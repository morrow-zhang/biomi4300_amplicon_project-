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DBAD93-E6C4-43BA-9E00-8490FF7497F4}">
  <a:tblStyle styleId="{38DBAD93-E6C4-43BA-9E00-8490FF7497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b17f480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7b17f48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ca46bfae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ca46bfae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ca46bfae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ca46bfae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5da26c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5da26c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b17f48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7b17f48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474e4c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a474e4c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b17f480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b17f480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474e4c6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474e4c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474e4c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474e4c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5da26c7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5da26c7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b17f480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7b17f480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5da26c7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5da26c7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a474e4c6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a474e4c6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9ca46bfae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9ca46bfa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ca46bfa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9ca46bfa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5da26c7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95da26c7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9ca46bf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9ca46bf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7b17f480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7b17f480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5da26c7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95da26c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1016/j.bbih.2025.101081" TargetMode="External"/><Relationship Id="rId4" Type="http://schemas.openxmlformats.org/officeDocument/2006/relationships/hyperlink" Target="https://doi.org/10.1016/j.jad.2023.03.02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9708" y="11700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978"/>
              <a:t>Gut Microbial Diversity Differences in MDD Patients With Recent Suicide Attempts</a:t>
            </a:r>
            <a:endParaRPr b="1" sz="2867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183"/>
              <a:buFont typeface="Arial"/>
              <a:buNone/>
            </a:pPr>
            <a:r>
              <a:t/>
            </a:r>
            <a:endParaRPr sz="3644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Morrow Zhang</a:t>
            </a:r>
            <a:endParaRPr sz="2000"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BIOMI 4300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73650" y="17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Gut microbiome–brain interactions suggest a potential role in suicide-related behavior</a:t>
            </a:r>
            <a:r>
              <a:rPr lang="en"/>
              <a:t>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73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00">
                <a:solidFill>
                  <a:schemeClr val="dk1"/>
                </a:solidFill>
              </a:rPr>
              <a:t>The gut microbiome communicates with the brain through immune and metabolic pathways (gut–brain axis)</a:t>
            </a:r>
            <a:endParaRPr sz="4200">
              <a:solidFill>
                <a:schemeClr val="dk1"/>
              </a:solidFill>
            </a:endParaRPr>
          </a:p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00">
                <a:solidFill>
                  <a:schemeClr val="dk1"/>
                </a:solidFill>
              </a:rPr>
              <a:t>Microbiome differences have been linked to psychiatric and neurological disorders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6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Gut microbiome dysbiosis may contribute to psychiatric disorders through immune and metabolic pathways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9590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Gut microbiome disruptions (dysbiosis) have been associated with major depressive disorder and other psychiatric conditions (Borkent et al.)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Dysbiosis may increase intestinal permeability, allowing bacterial components to trigger systemic inflammation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Chronic inflammation and circulating microbial metabolites may alter neural and immune pathways involved in mood and behavior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7 at 7.04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00" y="3541075"/>
            <a:ext cx="7175501" cy="15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0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Gut microbiome–brain interactions suggest a potential role in suicide-related behavior</a:t>
            </a:r>
            <a:r>
              <a:rPr lang="en"/>
              <a:t>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45675" y="104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icrobiome differences associated with suicide behavior remain understudied</a:t>
            </a:r>
            <a:endParaRPr/>
          </a:p>
        </p:txBody>
      </p:sp>
      <p:pic>
        <p:nvPicPr>
          <p:cNvPr id="75" name="Google Shape;75;p16" title="Screenshot 2026-04-27 at 6.41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25" y="1478752"/>
            <a:ext cx="6468751" cy="356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16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" sz="2750"/>
              <a:t>Gut microbiomes from 50 MDD patients were profiled using 16S rRNA sequencing</a:t>
            </a:r>
            <a:endParaRPr b="1" sz="2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33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Recruited </a:t>
            </a:r>
            <a:r>
              <a:rPr lang="en">
                <a:solidFill>
                  <a:schemeClr val="dk1"/>
                </a:solidFill>
              </a:rPr>
              <a:t>50 MDD hospitalized patients (35 attempter and 15 non-attemper)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Performed 16S rRNA Amplicon and Shotgun DNA sequencing on gut microbiome samples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Targeted V3-V4 region using the 341F/785R primer set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Sequenced using I</a:t>
            </a:r>
            <a:r>
              <a:rPr lang="en">
                <a:solidFill>
                  <a:schemeClr val="dk1"/>
                </a:solidFill>
              </a:rPr>
              <a:t>llumina 2 × 300 bp paired-end platform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3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</a:t>
            </a:r>
            <a:r>
              <a:rPr b="1" lang="en"/>
              <a:t>tudy tests whether hospitalized MDD suicide attempters exhibit differences in gut microbial diversity</a:t>
            </a:r>
            <a:r>
              <a:rPr b="1" lang="en"/>
              <a:t> 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555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Alpha Diversity: </a:t>
            </a:r>
            <a:r>
              <a:rPr lang="en">
                <a:solidFill>
                  <a:schemeClr val="dk1"/>
                </a:solidFill>
              </a:rPr>
              <a:t>Do recent hospitalized MDD suicide attempters show </a:t>
            </a:r>
            <a:r>
              <a:rPr b="1" lang="en">
                <a:solidFill>
                  <a:schemeClr val="dk1"/>
                </a:solidFill>
              </a:rPr>
              <a:t>higher gut microbial alpha diversity</a:t>
            </a:r>
            <a:r>
              <a:rPr lang="en">
                <a:solidFill>
                  <a:schemeClr val="dk1"/>
                </a:solidFill>
              </a:rPr>
              <a:t> than non-attempters?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Beta Diversity: </a:t>
            </a:r>
            <a:r>
              <a:rPr lang="en">
                <a:solidFill>
                  <a:schemeClr val="dk1"/>
                </a:solidFill>
              </a:rPr>
              <a:t>Do </a:t>
            </a:r>
            <a:r>
              <a:rPr lang="en">
                <a:solidFill>
                  <a:schemeClr val="dk1"/>
                </a:solidFill>
              </a:rPr>
              <a:t>hospitalized MDD </a:t>
            </a:r>
            <a:r>
              <a:rPr lang="en">
                <a:solidFill>
                  <a:schemeClr val="dk1"/>
                </a:solidFill>
              </a:rPr>
              <a:t>suicide attempters show </a:t>
            </a:r>
            <a:r>
              <a:rPr b="1" lang="en">
                <a:solidFill>
                  <a:schemeClr val="dk1"/>
                </a:solidFill>
              </a:rPr>
              <a:t>distinct microbial community composition</a:t>
            </a:r>
            <a:r>
              <a:rPr lang="en">
                <a:solidFill>
                  <a:schemeClr val="dk1"/>
                </a:solidFill>
              </a:rPr>
              <a:t> compared to non-attempters?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34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</a:t>
            </a:r>
            <a:r>
              <a:rPr b="1" lang="en" sz="2500"/>
              <a:t>ospitalized MDD</a:t>
            </a:r>
            <a:r>
              <a:rPr lang="en" sz="1800"/>
              <a:t> </a:t>
            </a:r>
            <a:r>
              <a:rPr b="1" lang="en" sz="2500"/>
              <a:t>s</a:t>
            </a:r>
            <a:r>
              <a:rPr b="1" lang="en" sz="2500"/>
              <a:t>uicide attempters are hypothesized to exhibit higher gut microbial alpha diversity</a:t>
            </a:r>
            <a:endParaRPr b="1" sz="25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273650" y="1532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Null hypothesis: There is no difference in gut microbial alpha diversity between hospitalized MDD suicide attempter and non-attempter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Alternative hypothesis: Hospitalized MDD suicide attempter exhibit higher gut microbial alpha diversity across Hill diversity q = 0, q = 1, and q = 2 compared to non-attempter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50175" y="13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Alpha diversity does not differ between hospitalized MDD suicide attempters and non-attempters</a:t>
            </a:r>
            <a:endParaRPr b="1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50175" y="957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Wilcoxon rank-sum tests showed no statistically significant differences in alpha </a:t>
            </a:r>
            <a:r>
              <a:rPr lang="en">
                <a:solidFill>
                  <a:schemeClr val="dk1"/>
                </a:solidFill>
              </a:rPr>
              <a:t>diversity</a:t>
            </a:r>
            <a:r>
              <a:rPr lang="en">
                <a:solidFill>
                  <a:schemeClr val="dk1"/>
                </a:solidFill>
              </a:rPr>
              <a:t> between suicide attempters and non-attempters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20" title="Screenshot 2026-04-25 at 6.24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250" y="1727100"/>
            <a:ext cx="5263693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" name="Google Shape;101;p20"/>
          <p:cNvGraphicFramePr/>
          <p:nvPr/>
        </p:nvGraphicFramePr>
        <p:xfrm>
          <a:off x="321900" y="182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{38DBAD93-E6C4-43BA-9E00-8490FF7497F4}</a:tableStyleId>
              </a:tblPr>
              <a:tblGrid>
                <a:gridCol w="1252875"/>
                <a:gridCol w="1252875"/>
              </a:tblGrid>
              <a:tr h="69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Diversity</a:t>
                      </a:r>
                      <a:r>
                        <a:rPr lang="en"/>
                        <a:t> 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P-value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Richness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q=0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Shannon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q=1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Simpson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q=2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75" y="6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Original study shows significant differences only in Faith’s Phylogenetic Diversity</a:t>
            </a:r>
            <a:endParaRPr b="1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0" y="1035825"/>
            <a:ext cx="9144000" cy="12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Original Study: Exhibit significantly richer microflora as measured by the Faith’s phylogenetic diversity index (p = 0.045). No significant differences were found in the other three alpha diversity measures.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</a:endParaRPr>
          </a:p>
        </p:txBody>
      </p:sp>
      <p:pic>
        <p:nvPicPr>
          <p:cNvPr id="108" name="Google Shape;108;p21" title="Screenshot 2026-04-25 at 7.11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25" y="2381050"/>
            <a:ext cx="3549924" cy="265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 title="Screenshot 2026-04-27 at 11.56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300" y="2503950"/>
            <a:ext cx="3994875" cy="21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Hospitalized MDD Attempters Are Hypothesized to Exhibit Distinct Beta Diversity </a:t>
            </a:r>
            <a:endParaRPr b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59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Null hypothesis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>
                <a:solidFill>
                  <a:schemeClr val="dk1"/>
                </a:solidFill>
              </a:rPr>
              <a:t>Gut microbial community composition does not differ between hospitalized MDD patients with a recent suicide attempt and those without a history of suicide attempts.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Alternative hypothesis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>
                <a:solidFill>
                  <a:schemeClr val="dk1"/>
                </a:solidFill>
              </a:rPr>
              <a:t>Hospitalized MDD patients with a recent suicide attempt exhibit distinct microbial species and community composition compared to MDD patients without a history of suicide attempt.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114625" y="8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Beta Diversity Analyses Reveal Substantial Overlap Between Attempters and Non-Attempters</a:t>
            </a:r>
            <a:endParaRPr b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114625" y="12830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Both PCoA and NMDS plots show substantial overlap between attempters and non-attempters, indicating that microbial communities are not </a:t>
            </a:r>
            <a:r>
              <a:rPr lang="en">
                <a:solidFill>
                  <a:schemeClr val="dk1"/>
                </a:solidFill>
              </a:rPr>
              <a:t>strongly differentiated by AttemptStatus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23" title="All_Ordinations_PCoA_NMDS.png"/>
          <p:cNvPicPr preferRelativeResize="0"/>
          <p:nvPr/>
        </p:nvPicPr>
        <p:blipFill rotWithShape="1">
          <a:blip r:embed="rId3">
            <a:alphaModFix/>
          </a:blip>
          <a:srcRect b="0" l="-4480" r="4480" t="0"/>
          <a:stretch/>
        </p:blipFill>
        <p:spPr>
          <a:xfrm>
            <a:off x="4392976" y="1319025"/>
            <a:ext cx="4640374" cy="37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136525" y="12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Attempt Status Explains Minimal Variation in Beta Diversity and Is Not Statistically Significant</a:t>
            </a:r>
            <a:endParaRPr b="1" sz="20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224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PERMANOVA analysis using Sorensen and Bray-Curtis distances revealed that AttemptStatus explained only ~2 to 3 % of variation in microbial community composition, with no significant differences in microbial community composition between sucide </a:t>
            </a:r>
            <a:r>
              <a:rPr lang="en">
                <a:solidFill>
                  <a:schemeClr val="dk1"/>
                </a:solidFill>
              </a:rPr>
              <a:t>attempters</a:t>
            </a:r>
            <a:r>
              <a:rPr lang="en">
                <a:solidFill>
                  <a:schemeClr val="dk1"/>
                </a:solidFill>
              </a:rPr>
              <a:t> and non-attempters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9" name="Google Shape;129;p24"/>
          <p:cNvGraphicFramePr/>
          <p:nvPr/>
        </p:nvGraphicFramePr>
        <p:xfrm>
          <a:off x="777325" y="301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{38DBAD93-E6C4-43BA-9E00-8490FF7497F4}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Distance 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Variation Explained (R²)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PERMANOVA p-value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Dispersion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p-value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Sorensen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Bray-Curtis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5775" y="6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Study Reports Significant Beta Diversity Differences Between Attempters and Non-Attempters</a:t>
            </a:r>
            <a:r>
              <a:rPr lang="en"/>
              <a:t> 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0" y="1145025"/>
            <a:ext cx="9144000" cy="12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Original Study</a:t>
            </a:r>
            <a:r>
              <a:rPr lang="en">
                <a:solidFill>
                  <a:schemeClr val="dk1"/>
                </a:solidFill>
              </a:rPr>
              <a:t>: The significant differences between the two clinical were more pronounced in beta diversity measures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25" title="Screenshot 2026-04-25 at 7.12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875" y="4193650"/>
            <a:ext cx="1192125" cy="6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 title="Screenshot 2026-04-25 at 7.13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25" y="2356725"/>
            <a:ext cx="2875176" cy="25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Screenshot 2026-04-27 at 11.59.0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2000" y="2356725"/>
            <a:ext cx="3765250" cy="18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97275" y="53900"/>
            <a:ext cx="904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Although overall composition is similar, three specific genera show increased abundance in attempters</a:t>
            </a:r>
            <a:endParaRPr/>
          </a:p>
        </p:txBody>
      </p:sp>
      <p:pic>
        <p:nvPicPr>
          <p:cNvPr id="144" name="Google Shape;144;p26" title="Top15_ASVs_AttemptStat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75" y="1110625"/>
            <a:ext cx="5737375" cy="40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97275" y="0"/>
            <a:ext cx="900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Although overall composition is similar, three specific genera show increased abundance in attempters</a:t>
            </a:r>
            <a:endParaRPr b="1" sz="2200"/>
          </a:p>
        </p:txBody>
      </p:sp>
      <p:pic>
        <p:nvPicPr>
          <p:cNvPr id="150" name="Google Shape;150;p27" title="Top15_ASVs_AttemptStat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0" y="780025"/>
            <a:ext cx="6054948" cy="432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150" y="780025"/>
            <a:ext cx="1287775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0" y="3444725"/>
            <a:ext cx="1378800" cy="14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600" y="3444725"/>
            <a:ext cx="1339150" cy="13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6332575" y="806900"/>
            <a:ext cx="26529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Fernollaria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n" sz="1800">
                <a:solidFill>
                  <a:srgbClr val="1155CC"/>
                </a:solidFill>
              </a:rPr>
              <a:t>Peptoniphilus</a:t>
            </a:r>
            <a:endParaRPr sz="1800">
              <a:solidFill>
                <a:srgbClr val="1155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Murdochiella</a:t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129500" y="11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Three Key Genera Show Elevated Abundance in MDD Patients and Risk-Associated Populations</a:t>
            </a:r>
            <a:endParaRPr b="1"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129500" y="1121600"/>
            <a:ext cx="8681100" cy="20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Fenoilaria</a:t>
            </a:r>
            <a:r>
              <a:rPr lang="en" sz="1600">
                <a:solidFill>
                  <a:schemeClr val="dk1"/>
                </a:solidFill>
              </a:rPr>
              <a:t>: the genus Fenoilaria was exclusively present in MDD patients compared to healthy controls </a:t>
            </a:r>
            <a:r>
              <a:rPr lang="en" sz="1600">
                <a:solidFill>
                  <a:schemeClr val="dk1"/>
                </a:solidFill>
              </a:rPr>
              <a:t>(Fontana et al.).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Peptoniphilus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Peptoniphilus were increased in sever MDD patients </a:t>
            </a:r>
            <a:r>
              <a:rPr lang="en" sz="1600">
                <a:solidFill>
                  <a:schemeClr val="dk1"/>
                </a:solidFill>
              </a:rPr>
              <a:t>(Zhong et al.).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Murdochiella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Murdochiella abundance was significantly increased in individuals reporting childhood physical abuse, a major environmental risk factor associated with MDD development (Rohr et al.).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1" name="Google Shape;161;p28" title="Screenshot 2026-04-27 at 5.29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00" y="3019775"/>
            <a:ext cx="1861500" cy="20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Screenshot 2026-04-27 at 5.29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000" y="2997525"/>
            <a:ext cx="1913775" cy="21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Screenshot 2026-04-27 at 5.30.2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4775" y="3019775"/>
            <a:ext cx="1913775" cy="2123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27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Overall gut microbiome remains stable, but specific genera show increased abundance in attempters</a:t>
            </a:r>
            <a:r>
              <a:rPr b="1" lang="en"/>
              <a:t> </a:t>
            </a:r>
            <a:endParaRPr b="1"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369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Microbial diversity remains stable between groups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Alpha diversity does not differ between hospitalized MDD attempters and non-attempters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Beta diversity shows no significant community separation between groups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Dominant taxa remain consistent across hospitalized MDD groups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Bacillota and Bacteroidota dominate gut microbial composition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Other phyla remain low abundance with minimal phylum-level differences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Suicide attempt status is not associated with large-scale microbiome restructuring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significant diversity or compositional shifts were detected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However, several individual ASVs and genera show increased abundance in suicide attempters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7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Large-Scale Gut Microbiome Restructuring Does Not Characterize Suicidal Behavior in Hospitalized MDD</a:t>
            </a:r>
            <a:endParaRPr b="1"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Suicide attempt status did not produce major shifts</a:t>
            </a:r>
            <a:r>
              <a:rPr lang="en">
                <a:solidFill>
                  <a:schemeClr val="dk1"/>
                </a:solidFill>
              </a:rPr>
              <a:t> in gut microbial diversity or overall community composition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Large-scale microbiome restructuring may not characterize</a:t>
            </a:r>
            <a:r>
              <a:rPr lang="en">
                <a:solidFill>
                  <a:schemeClr val="dk1"/>
                </a:solidFill>
              </a:rPr>
              <a:t> suicidal behavior in hospitalized MDD patients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Finer-scale microbial or functional mechanisms</a:t>
            </a:r>
            <a:r>
              <a:rPr lang="en">
                <a:solidFill>
                  <a:schemeClr val="dk1"/>
                </a:solidFill>
              </a:rPr>
              <a:t> along the gut–brain axis should be investigated in future studies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r>
              <a:rPr lang="en"/>
              <a:t> 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28964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Prandovszky, Emese, et al. “Altered Gut Microbial Diversity, Composition, and Metabolomic Potential in Patients with Major Depressive Disorder and Recent Suicide Attempt.” </a:t>
            </a:r>
            <a:r>
              <a:rPr i="1" lang="en" sz="1538">
                <a:solidFill>
                  <a:schemeClr val="dk1"/>
                </a:solidFill>
              </a:rPr>
              <a:t>Brain, Behavior, &amp; Immunity - Health</a:t>
            </a:r>
            <a:r>
              <a:rPr lang="en" sz="1538">
                <a:solidFill>
                  <a:schemeClr val="dk1"/>
                </a:solidFill>
              </a:rPr>
              <a:t>, vol. 48, 5 Aug. 2025, p. 101081, www.sciencedirect.com/science/article/pii/S2666354625001395?via%3Dihub, </a:t>
            </a:r>
            <a:r>
              <a:rPr lang="en" sz="1538" u="sng">
                <a:solidFill>
                  <a:schemeClr val="hlink"/>
                </a:solidFill>
                <a:hlinkClick r:id="rId3"/>
              </a:rPr>
              <a:t>https://doi.org/10.1016/j.bbih.2025.101081</a:t>
            </a:r>
            <a:r>
              <a:rPr lang="en" sz="1538">
                <a:solidFill>
                  <a:schemeClr val="dk1"/>
                </a:solidFill>
              </a:rPr>
              <a:t>.</a:t>
            </a:r>
            <a:endParaRPr sz="1538">
              <a:solidFill>
                <a:schemeClr val="dk1"/>
              </a:solidFill>
            </a:endParaRPr>
          </a:p>
          <a:p>
            <a:pPr indent="-28964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Fontana, Andrea, et al. “Exploring the Role of Gut Microbiota in Major Depressive Disorder and in Treatment Resistance to Antidepressants.” </a:t>
            </a:r>
            <a:r>
              <a:rPr i="1" lang="en" sz="1538">
                <a:solidFill>
                  <a:schemeClr val="dk1"/>
                </a:solidFill>
              </a:rPr>
              <a:t>Biomedicines</a:t>
            </a:r>
            <a:r>
              <a:rPr lang="en" sz="1538">
                <a:solidFill>
                  <a:schemeClr val="dk1"/>
                </a:solidFill>
              </a:rPr>
              <a:t>, vol. 8, no. 9, 27 Aug. 2020, p. 311, https://doi.org/10.3390/biomedicines8090311.</a:t>
            </a:r>
            <a:endParaRPr sz="1538">
              <a:solidFill>
                <a:schemeClr val="dk1"/>
              </a:solidFill>
            </a:endParaRPr>
          </a:p>
          <a:p>
            <a:pPr indent="-28964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Zhong, Qi, et al. “Differential Gut Microbiota Compositions Related with the Severity of Major Depressive Disorder.” </a:t>
            </a:r>
            <a:r>
              <a:rPr i="1" lang="en" sz="1538">
                <a:solidFill>
                  <a:schemeClr val="dk1"/>
                </a:solidFill>
              </a:rPr>
              <a:t>Frontiers in Cellular and Infection Microbiology</a:t>
            </a:r>
            <a:r>
              <a:rPr lang="en" sz="1538">
                <a:solidFill>
                  <a:schemeClr val="dk1"/>
                </a:solidFill>
              </a:rPr>
              <a:t>, vol. 12, 11 July 2022, https://doi.org/10.3389/fcimb.2022.907239.</a:t>
            </a:r>
            <a:endParaRPr sz="1538">
              <a:solidFill>
                <a:schemeClr val="dk1"/>
              </a:solidFill>
            </a:endParaRPr>
          </a:p>
          <a:p>
            <a:pPr indent="-28964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Rohr, Jessica C, et al. “History of Childhood Physical Abuse Is Associated with Gut Microbiota Diversity among Adult Psychiatric Inpatients.” </a:t>
            </a:r>
            <a:r>
              <a:rPr i="1" lang="en" sz="1538">
                <a:solidFill>
                  <a:schemeClr val="dk1"/>
                </a:solidFill>
              </a:rPr>
              <a:t>Journal of Affective Disorders</a:t>
            </a:r>
            <a:r>
              <a:rPr lang="en" sz="1538">
                <a:solidFill>
                  <a:schemeClr val="dk1"/>
                </a:solidFill>
              </a:rPr>
              <a:t>, vol. 331, 1 June 2023, pp. 50–56, </a:t>
            </a:r>
            <a:r>
              <a:rPr lang="en" sz="1538" u="sng">
                <a:solidFill>
                  <a:schemeClr val="hlink"/>
                </a:solidFill>
                <a:hlinkClick r:id="rId4"/>
              </a:rPr>
              <a:t>https://doi.org/10.1016/j.jad.2023.03.023</a:t>
            </a:r>
            <a:r>
              <a:rPr lang="en" sz="1538">
                <a:solidFill>
                  <a:schemeClr val="dk1"/>
                </a:solidFill>
              </a:rPr>
              <a:t>.</a:t>
            </a:r>
            <a:endParaRPr sz="1538">
              <a:solidFill>
                <a:schemeClr val="dk1"/>
              </a:solidFill>
            </a:endParaRPr>
          </a:p>
          <a:p>
            <a:pPr indent="-28964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Borkent, Jenny, et al. “Role of the Gut Microbiome in Three Major Psychiatric Disorders.” </a:t>
            </a:r>
            <a:r>
              <a:rPr i="1" lang="en" sz="1538">
                <a:solidFill>
                  <a:schemeClr val="dk1"/>
                </a:solidFill>
              </a:rPr>
              <a:t>Psychological Medicine</a:t>
            </a:r>
            <a:r>
              <a:rPr lang="en" sz="1538">
                <a:solidFill>
                  <a:schemeClr val="dk1"/>
                </a:solidFill>
              </a:rPr>
              <a:t>, 4 May 2022, pp. 1–21, www.cambridge.org/core/journals/psychological-medicine/article/role-of-the-gut-microbiome-in-three-major-psychiatric-disorders/D1B42C227DBAD58750E4A44DEA041BC5, https://doi.org/10.1017/S0033291722000897.</a:t>
            </a:r>
            <a:endParaRPr sz="1538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You, and Questions?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