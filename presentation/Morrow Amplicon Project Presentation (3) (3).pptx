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Z6fgIY77fCA6xFM2VXzZOu0Uz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5160BA-B211-4F9E-BA78-D2F2428B048C}">
  <a:tblStyle styleId="{F65160BA-B211-4F9E-BA78-D2F2428B04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1016/j.bbih.2025.101081" TargetMode="External"/><Relationship Id="rId4" Type="http://schemas.openxmlformats.org/officeDocument/2006/relationships/hyperlink" Target="https://doi.org/10.1016/j.jad.2023.03.02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49708" y="1170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4015"/>
              <a:buNone/>
            </a:pPr>
            <a:r>
              <a:rPr b="1" lang="en" sz="2978"/>
              <a:t>Gut Microbial Diversity Differences in MDD Patients With Recent Suicide Attempts</a:t>
            </a:r>
            <a:endParaRPr b="1" sz="2867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183"/>
              <a:buFont typeface="Arial"/>
              <a:buNone/>
            </a:pPr>
            <a:r>
              <a:t/>
            </a:r>
            <a:endParaRPr sz="3644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Morrow Zhang</a:t>
            </a:r>
            <a:endParaRPr sz="2000"/>
          </a:p>
          <a:p>
            <a:pPr indent="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BIOMI 4300 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273650" y="178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Gut microbiome–brain interactions suggest a potential role in suicide-related behavior</a:t>
            </a:r>
            <a:r>
              <a:rPr lang="en"/>
              <a:t> 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3731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3552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00">
                <a:solidFill>
                  <a:schemeClr val="dk1"/>
                </a:solidFill>
              </a:rPr>
              <a:t>The gut microbiome communicates with the brain through immune and metabolic pathways (gut–brain axis)</a:t>
            </a:r>
            <a:endParaRPr sz="4200">
              <a:solidFill>
                <a:schemeClr val="dk1"/>
              </a:solidFill>
            </a:endParaRPr>
          </a:p>
          <a:p>
            <a:pPr indent="-3552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00">
                <a:solidFill>
                  <a:schemeClr val="dk1"/>
                </a:solidFill>
              </a:rPr>
              <a:t>Microbiome differences have been linked to psychiatric and neurological disorders</a:t>
            </a:r>
            <a:endParaRPr sz="4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4211"/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4211"/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2632"/>
              <a:buNone/>
            </a:pPr>
            <a:r>
              <a:t/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1052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16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Gut microbiome dysbiosis may contribute to psychiatric disorders through immune and metabolic pathways</a:t>
            </a:r>
            <a:endParaRPr b="1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395900"/>
            <a:ext cx="8832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Gut microbiome disruptions (dysbiosis) have been associated with major depressive disorder and other psychiatric conditions (Borkent et al.)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Dysbiosis may increase intestinal permeability, allowing bacterial components to trigger systemic inflammation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Chronic inflammation and circulating microbial metabolites may alter neural and immune pathways involved in mood and behavior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8" name="Google Shape;68;p3" title="Screenshot 2026-04-27 at 7.04.06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00" y="3541075"/>
            <a:ext cx="7175501" cy="15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105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Gut microbiome–brain interactions suggest a potential role in suicide-related behavior</a:t>
            </a:r>
            <a:r>
              <a:rPr lang="en"/>
              <a:t> 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245675" y="1048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Microbiome differences associated with suicide behavior remain understudied</a:t>
            </a:r>
            <a:endParaRPr/>
          </a:p>
        </p:txBody>
      </p:sp>
      <p:pic>
        <p:nvPicPr>
          <p:cNvPr id="75" name="Google Shape;75;p4" title="Screenshot 2026-04-27 at 6.41.2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325" y="1478752"/>
            <a:ext cx="6468751" cy="356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21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" sz="2750"/>
              <a:t>Gut microbiomes from 50 MDD patients were profiled using 16S rRNA sequencing</a:t>
            </a:r>
            <a:endParaRPr b="1" sz="27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335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Recruited 50 MDD hospitalized patients (35 attempter and 15 non-attemper)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Performed 16S rRNA Amplicon and Shotgun DNA sequencing on gut microbiome samples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Targeted V3-V4 region using the 341F/785R primer set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Sequenced using Illumina 2 × 300 bp paired-end platform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239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Study tests whether hospitalized MDD suicide attempters exhibit differences in gut microbial diversity </a:t>
            </a:r>
            <a:endParaRPr b="1"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555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Alpha Diversity: </a:t>
            </a:r>
            <a:r>
              <a:rPr lang="en">
                <a:solidFill>
                  <a:schemeClr val="dk1"/>
                </a:solidFill>
              </a:rPr>
              <a:t>Do recent hospitalized MDD suicide attempters show </a:t>
            </a:r>
            <a:r>
              <a:rPr b="1" lang="en">
                <a:solidFill>
                  <a:schemeClr val="dk1"/>
                </a:solidFill>
              </a:rPr>
              <a:t>higher gut microbial alpha diversity</a:t>
            </a:r>
            <a:r>
              <a:rPr lang="en">
                <a:solidFill>
                  <a:schemeClr val="dk1"/>
                </a:solidFill>
              </a:rPr>
              <a:t> than non-attempters?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Beta Diversity: </a:t>
            </a:r>
            <a:r>
              <a:rPr lang="en">
                <a:solidFill>
                  <a:schemeClr val="dk1"/>
                </a:solidFill>
              </a:rPr>
              <a:t>Do hospitalized MDD suicide attempters show </a:t>
            </a:r>
            <a:r>
              <a:rPr b="1" lang="en">
                <a:solidFill>
                  <a:schemeClr val="dk1"/>
                </a:solidFill>
              </a:rPr>
              <a:t>distinct microbial community composition</a:t>
            </a:r>
            <a:r>
              <a:rPr lang="en">
                <a:solidFill>
                  <a:schemeClr val="dk1"/>
                </a:solidFill>
              </a:rPr>
              <a:t> compared to non-attempters?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311700" y="346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Hospitalized MDD</a:t>
            </a:r>
            <a:r>
              <a:rPr lang="en" sz="1800"/>
              <a:t> </a:t>
            </a:r>
            <a:r>
              <a:rPr b="1" lang="en" sz="2500"/>
              <a:t>suicide attempters are hypothesized to exhibit higher gut microbial alpha diversity</a:t>
            </a:r>
            <a:endParaRPr b="1" sz="2500"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273650" y="15329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Null hypothesis: There is no difference in gut microbial alpha diversity between hospitalized MDD suicide attempter and non-attempter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Alternative hypothesis: Hospitalized MDD suicide attempter exhibit higher gut microbial alpha diversity across Hill diversity q = 0, q = 1, and q = 2 compared to non-attempter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150175" y="133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Alpha diversity does not differ between hospitalized MDD suicide attempters and non-attempters</a:t>
            </a:r>
            <a:endParaRPr b="1"/>
          </a:p>
        </p:txBody>
      </p: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150175" y="9573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Wilcoxon rank-sum tests showed no statistically significant differences in alpha diversity between suicide attempters and non-attempters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8" title="Screenshot 2026-04-25 at 6.24.0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2250" y="1727100"/>
            <a:ext cx="5263693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" name="Google Shape;101;p8"/>
          <p:cNvGraphicFramePr/>
          <p:nvPr/>
        </p:nvGraphicFramePr>
        <p:xfrm>
          <a:off x="321900" y="182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{F65160BA-B211-4F9E-BA78-D2F2428B048C}</a:tableStyleId>
              </a:tblPr>
              <a:tblGrid>
                <a:gridCol w="1252875"/>
                <a:gridCol w="1252875"/>
              </a:tblGrid>
              <a:tr h="6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Diversity Metric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P-value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Richness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q=0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0.0799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Shannon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q=1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0.245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6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Simpson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q=2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0.319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45775" y="65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Original study shows significant differences only in Faith’s Phylogenetic Diversity</a:t>
            </a:r>
            <a:endParaRPr b="1"/>
          </a:p>
        </p:txBody>
      </p:sp>
      <p:sp>
        <p:nvSpPr>
          <p:cNvPr id="107" name="Google Shape;107;p9"/>
          <p:cNvSpPr txBox="1"/>
          <p:nvPr>
            <p:ph idx="1" type="body"/>
          </p:nvPr>
        </p:nvSpPr>
        <p:spPr>
          <a:xfrm>
            <a:off x="0" y="1035825"/>
            <a:ext cx="91440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Original Study: Exhibit significantly richer microflora as measured by the Faith’s phylogenetic diversity index (p = 0.045). No significant differences were found in the other three alpha diversity measures.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50">
              <a:solidFill>
                <a:schemeClr val="dk1"/>
              </a:solidFill>
            </a:endParaRPr>
          </a:p>
        </p:txBody>
      </p:sp>
      <p:pic>
        <p:nvPicPr>
          <p:cNvPr id="108" name="Google Shape;108;p9" title="Screenshot 2026-04-25 at 7.11.1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25" y="2381050"/>
            <a:ext cx="3549924" cy="265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title="Screenshot 2026-04-27 at 11.56.28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5300" y="2503950"/>
            <a:ext cx="3994875" cy="21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Hospitalized MDD Attempters Are Hypothesized to Exhibit Distinct Beta Diversity </a:t>
            </a:r>
            <a:endParaRPr b="1"/>
          </a:p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311700" y="15981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Null hypothesis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>
                <a:solidFill>
                  <a:schemeClr val="dk1"/>
                </a:solidFill>
              </a:rPr>
              <a:t>Gut microbial community composition does not differ between hospitalized MDD patients with a recent suicide attempt and those without a history of suicide attempts.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Alternative hypothesis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>
                <a:solidFill>
                  <a:schemeClr val="dk1"/>
                </a:solidFill>
              </a:rPr>
              <a:t>Hospitalized MDD patients with a recent suicide attempt exhibit distinct microbial species and community composition compared to MDD patients without a history of suicide attempt.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114625" y="83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Beta Diversity Analyses Reveal Substantial Overlap Between Attempters and Non-Attempters</a:t>
            </a:r>
            <a:endParaRPr b="1"/>
          </a:p>
        </p:txBody>
      </p:sp>
      <p:sp>
        <p:nvSpPr>
          <p:cNvPr id="121" name="Google Shape;121;p11"/>
          <p:cNvSpPr txBox="1"/>
          <p:nvPr>
            <p:ph idx="1" type="body"/>
          </p:nvPr>
        </p:nvSpPr>
        <p:spPr>
          <a:xfrm>
            <a:off x="114625" y="1283000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Both PCoA and NMDS plots show substantial overlap between attempters and non-attempters, indicating that microbial communities are not strongly differentiated by AttemptStatus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11" title="All_Ordinations_PCoA_NMDS.png"/>
          <p:cNvPicPr preferRelativeResize="0"/>
          <p:nvPr/>
        </p:nvPicPr>
        <p:blipFill rotWithShape="1">
          <a:blip r:embed="rId3">
            <a:alphaModFix/>
          </a:blip>
          <a:srcRect b="0" l="-4480" r="4480" t="0"/>
          <a:stretch/>
        </p:blipFill>
        <p:spPr>
          <a:xfrm>
            <a:off x="4392976" y="1319025"/>
            <a:ext cx="4640374" cy="37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>
            <p:ph type="title"/>
          </p:nvPr>
        </p:nvSpPr>
        <p:spPr>
          <a:xfrm>
            <a:off x="136525" y="12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Attempt Status Explains Minimal Variation in Beta Diversity and Is Not Statistically Significant</a:t>
            </a:r>
            <a:endParaRPr b="1" sz="2000"/>
          </a:p>
        </p:txBody>
      </p:sp>
      <p:sp>
        <p:nvSpPr>
          <p:cNvPr id="128" name="Google Shape;128;p12"/>
          <p:cNvSpPr txBox="1"/>
          <p:nvPr>
            <p:ph idx="1" type="body"/>
          </p:nvPr>
        </p:nvSpPr>
        <p:spPr>
          <a:xfrm>
            <a:off x="311700" y="1224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PERMANOVA analysis using Sorensen and Bray-Curtis distances revealed that AttemptStatus explained only ~2 to 3 % of variation in microbial community composition, with no significant differences in microbial community composition between sucide attempters and non-attempters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9" name="Google Shape;129;p12"/>
          <p:cNvGraphicFramePr/>
          <p:nvPr/>
        </p:nvGraphicFramePr>
        <p:xfrm>
          <a:off x="777325" y="301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{F65160BA-B211-4F9E-BA78-D2F2428B048C}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Distance Metric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Variation Explained (R²)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PERMANOVA p-value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Dispersion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p-value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Sorensen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2.56%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0.098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0.443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Bray-Curtis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2.56%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0.128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0.822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45775" y="65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Original Study Reports Significant Beta Diversity Differences Between Attempters and Non-Attempters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0" y="1145025"/>
            <a:ext cx="91440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Original Study</a:t>
            </a:r>
            <a:r>
              <a:rPr lang="en">
                <a:solidFill>
                  <a:schemeClr val="dk1"/>
                </a:solidFill>
              </a:rPr>
              <a:t>: The significant differences between the two clinical were more pronounced in beta diversity measures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13" title="Screenshot 2026-04-25 at 7.12.1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9875" y="4193650"/>
            <a:ext cx="1192125" cy="6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 title="Screenshot 2026-04-25 at 7.13.2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625" y="2356725"/>
            <a:ext cx="2875176" cy="25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 title="Screenshot 2026-04-27 at 11.59.07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2000" y="2356725"/>
            <a:ext cx="3765250" cy="18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97275" y="53900"/>
            <a:ext cx="90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Although overall composition is similar, three specific genera show increased abundance in attempters</a:t>
            </a:r>
            <a:endParaRPr/>
          </a:p>
        </p:txBody>
      </p:sp>
      <p:pic>
        <p:nvPicPr>
          <p:cNvPr id="144" name="Google Shape;144;p14" title="Top15_ASVs_AttemptStatu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75" y="1110625"/>
            <a:ext cx="5737375" cy="40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97275" y="0"/>
            <a:ext cx="900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200"/>
              <a:t>Although overall composition is similar, three specific genera show increased abundance in attempters</a:t>
            </a:r>
            <a:endParaRPr b="1" sz="2200"/>
          </a:p>
        </p:txBody>
      </p:sp>
      <p:pic>
        <p:nvPicPr>
          <p:cNvPr id="150" name="Google Shape;150;p15" title="Top15_ASVs_AttemptStatu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0" y="780025"/>
            <a:ext cx="6054948" cy="432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150" y="780025"/>
            <a:ext cx="1287775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50" y="3444725"/>
            <a:ext cx="1378800" cy="14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4600" y="3444725"/>
            <a:ext cx="1339150" cy="13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6332575" y="806900"/>
            <a:ext cx="26529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Fernollaria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Peptoniphilus</a:t>
            </a:r>
            <a:endParaRPr b="0" i="0" sz="18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Murdochiella</a:t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29500" y="117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Three Key Genera Show Elevated Abundance in MDD Patients and Risk-Associated Populations</a:t>
            </a:r>
            <a:endParaRPr b="1"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29500" y="1121600"/>
            <a:ext cx="86811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Fenoilaria</a:t>
            </a:r>
            <a:r>
              <a:rPr lang="en" sz="1600">
                <a:solidFill>
                  <a:schemeClr val="dk1"/>
                </a:solidFill>
              </a:rPr>
              <a:t>: the genus Fenoilaria was exclusively present in MDD patients compared to healthy controls (Fontana et al.).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Peptoniphilus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Peptoniphilus were increased in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severe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MDD patients </a:t>
            </a:r>
            <a:r>
              <a:rPr lang="en" sz="1600">
                <a:solidFill>
                  <a:schemeClr val="dk1"/>
                </a:solidFill>
              </a:rPr>
              <a:t>(Zhong et al.).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Murdochiella</a:t>
            </a:r>
            <a:r>
              <a:rPr lang="en" sz="1600">
                <a:solidFill>
                  <a:schemeClr val="dk1"/>
                </a:solidFill>
              </a:rPr>
              <a:t>: Murdochiella abundance was significantly increased in individuals reporting childhood physical abuse, a major environmental risk factor associated with MDD development (Rohr et al.).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1" name="Google Shape;161;p16" title="Screenshot 2026-04-27 at 5.29.0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00" y="3019775"/>
            <a:ext cx="1861500" cy="20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title="Screenshot 2026-04-27 at 5.29.27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1000" y="2997525"/>
            <a:ext cx="1913775" cy="21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title="Screenshot 2026-04-27 at 5.30.21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4775" y="3019775"/>
            <a:ext cx="1913775" cy="2123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311700" y="270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Overall gut microbiome remains stable, but specific genera show increased abundance in attempters </a:t>
            </a:r>
            <a:endParaRPr b="1"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311700" y="1369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Microbial diversity remains stable between groups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Alpha diversity does not differ between hospitalized MDD attempters and non-attempters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Beta diversity shows no significant community separation between groups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Suicide attempt status is not associated with large-scale microbiome restructuring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significant diversity or compositional shifts were detected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However, several individual ASVs and genera show increased abundance in suicide attempters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311700" y="17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Large-Scale Gut Microbiome Restructuring Does Not Characterize Suicidal Behavior in Hospitalized MDD</a:t>
            </a:r>
            <a:endParaRPr b="1"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Suicide attempt status did not produce major shifts</a:t>
            </a:r>
            <a:r>
              <a:rPr lang="en">
                <a:solidFill>
                  <a:schemeClr val="dk1"/>
                </a:solidFill>
              </a:rPr>
              <a:t> in gut microbial diversity or overall community composition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Large-scale microbiome restructuring may not characterize</a:t>
            </a:r>
            <a:r>
              <a:rPr lang="en">
                <a:solidFill>
                  <a:schemeClr val="dk1"/>
                </a:solidFill>
              </a:rPr>
              <a:t> suicidal behavior in hospitalized MDD patients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Finer-scale microbial or functional mechanisms</a:t>
            </a:r>
            <a:r>
              <a:rPr lang="en">
                <a:solidFill>
                  <a:schemeClr val="dk1"/>
                </a:solidFill>
              </a:rPr>
              <a:t> along the gut–brain axis should be investigated in future studies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Bibliography 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28966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Prandovszky, Emese, et al. “Altered Gut Microbial Diversity, Composition, and Metabolomic Potential in Patients with Major Depressive Disorder and Recent Suicide Attempt.” </a:t>
            </a:r>
            <a:r>
              <a:rPr i="1" lang="en" sz="1538">
                <a:solidFill>
                  <a:schemeClr val="dk1"/>
                </a:solidFill>
              </a:rPr>
              <a:t>Brain, Behavior, &amp; Immunity - Health</a:t>
            </a:r>
            <a:r>
              <a:rPr lang="en" sz="1538">
                <a:solidFill>
                  <a:schemeClr val="dk1"/>
                </a:solidFill>
              </a:rPr>
              <a:t>, vol. 48, 5 Aug. 2025, p. 101081, www.sciencedirect.com/science/article/pii/S2666354625001395?via%3Dihub, </a:t>
            </a:r>
            <a:r>
              <a:rPr lang="en" sz="1538" u="sng">
                <a:solidFill>
                  <a:schemeClr val="hlink"/>
                </a:solidFill>
                <a:hlinkClick r:id="rId3"/>
              </a:rPr>
              <a:t>https://doi.org/10.1016/j.bbih.2025.101081</a:t>
            </a:r>
            <a:r>
              <a:rPr lang="en" sz="1538">
                <a:solidFill>
                  <a:schemeClr val="dk1"/>
                </a:solidFill>
              </a:rPr>
              <a:t>.</a:t>
            </a:r>
            <a:endParaRPr sz="1538">
              <a:solidFill>
                <a:schemeClr val="dk1"/>
              </a:solidFill>
            </a:endParaRPr>
          </a:p>
          <a:p>
            <a:pPr indent="-28966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Fontana, Andrea, et al. “Exploring the Role of Gut Microbiota in Major Depressive Disorder and in Treatment Resistance to Antidepressants.” </a:t>
            </a:r>
            <a:r>
              <a:rPr i="1" lang="en" sz="1538">
                <a:solidFill>
                  <a:schemeClr val="dk1"/>
                </a:solidFill>
              </a:rPr>
              <a:t>Biomedicines</a:t>
            </a:r>
            <a:r>
              <a:rPr lang="en" sz="1538">
                <a:solidFill>
                  <a:schemeClr val="dk1"/>
                </a:solidFill>
              </a:rPr>
              <a:t>, vol. 8, no. 9, 27 Aug. 2020, p. 311, https://doi.org/10.3390/biomedicines8090311.</a:t>
            </a:r>
            <a:endParaRPr sz="1538">
              <a:solidFill>
                <a:schemeClr val="dk1"/>
              </a:solidFill>
            </a:endParaRPr>
          </a:p>
          <a:p>
            <a:pPr indent="-28966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Zhong, Qi, et al. “Differential Gut Microbiota Compositions Related with the Severity of Major Depressive Disorder.” </a:t>
            </a:r>
            <a:r>
              <a:rPr i="1" lang="en" sz="1538">
                <a:solidFill>
                  <a:schemeClr val="dk1"/>
                </a:solidFill>
              </a:rPr>
              <a:t>Frontiers in Cellular and Infection Microbiology</a:t>
            </a:r>
            <a:r>
              <a:rPr lang="en" sz="1538">
                <a:solidFill>
                  <a:schemeClr val="dk1"/>
                </a:solidFill>
              </a:rPr>
              <a:t>, vol. 12, 11 July 2022, https://doi.org/10.3389/fcimb.2022.907239.</a:t>
            </a:r>
            <a:endParaRPr sz="1538">
              <a:solidFill>
                <a:schemeClr val="dk1"/>
              </a:solidFill>
            </a:endParaRPr>
          </a:p>
          <a:p>
            <a:pPr indent="-28966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Rohr, Jessica C, et al. “History of Childhood Physical Abuse Is Associated with Gut Microbiota Diversity among Adult Psychiatric Inpatients.” </a:t>
            </a:r>
            <a:r>
              <a:rPr i="1" lang="en" sz="1538">
                <a:solidFill>
                  <a:schemeClr val="dk1"/>
                </a:solidFill>
              </a:rPr>
              <a:t>Journal of Affective Disorders</a:t>
            </a:r>
            <a:r>
              <a:rPr lang="en" sz="1538">
                <a:solidFill>
                  <a:schemeClr val="dk1"/>
                </a:solidFill>
              </a:rPr>
              <a:t>, vol. 331, 1 June 2023, pp. 50–56, </a:t>
            </a:r>
            <a:r>
              <a:rPr lang="en" sz="1538" u="sng">
                <a:solidFill>
                  <a:schemeClr val="hlink"/>
                </a:solidFill>
                <a:hlinkClick r:id="rId4"/>
              </a:rPr>
              <a:t>https://doi.org/10.1016/j.jad.2023.03.023</a:t>
            </a:r>
            <a:r>
              <a:rPr lang="en" sz="1538">
                <a:solidFill>
                  <a:schemeClr val="dk1"/>
                </a:solidFill>
              </a:rPr>
              <a:t>.</a:t>
            </a:r>
            <a:endParaRPr sz="1538">
              <a:solidFill>
                <a:schemeClr val="dk1"/>
              </a:solidFill>
            </a:endParaRPr>
          </a:p>
          <a:p>
            <a:pPr indent="-28966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38">
                <a:solidFill>
                  <a:schemeClr val="dk1"/>
                </a:solidFill>
              </a:rPr>
              <a:t>Borkent, Jenny, et al. “Role of the Gut Microbiome in Three Major Psychiatric Disorders.” </a:t>
            </a:r>
            <a:r>
              <a:rPr i="1" lang="en" sz="1538">
                <a:solidFill>
                  <a:schemeClr val="dk1"/>
                </a:solidFill>
              </a:rPr>
              <a:t>Psychological Medicine</a:t>
            </a:r>
            <a:r>
              <a:rPr lang="en" sz="1538">
                <a:solidFill>
                  <a:schemeClr val="dk1"/>
                </a:solidFill>
              </a:rPr>
              <a:t>, 4 May 2022, pp. 1–21, www.cambridge.org/core/journals/psychological-medicine/article/role-of-the-gut-microbiome-in-three-major-psychiatric-disorders/D1B42C227DBAD58750E4A44DEA041BC5, https://doi.org/10.1017/S0033291722000897.</a:t>
            </a:r>
            <a:endParaRPr sz="1538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240000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2400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You, and Questions?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